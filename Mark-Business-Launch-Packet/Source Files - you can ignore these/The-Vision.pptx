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48840"/>
            <a:ext cx="822960" cy="146304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772E"/>
                </a:solidFill>
                <a:latin typeface="Liberation Sans"/>
              </a:rPr>
              <a:t>A BUSINESS BUILT FOR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Liberation Sans"/>
              </a:rPr>
              <a:t>Turn what you already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FFFFFF"/>
                </a:solidFill>
                <a:latin typeface="Liberation Sans"/>
              </a:rPr>
              <a:t>know into work you can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5000" b="1">
                <a:solidFill>
                  <a:srgbClr val="C8772E"/>
                </a:solidFill>
                <a:latin typeface="Liberation Sans"/>
              </a:rPr>
              <a:t>do from home.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Liberation Sans"/>
              </a:rPr>
              <a:t>Prepared for Mark Strazisar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B7A"/>
                </a:solidFill>
                <a:latin typeface="Liberation Sans"/>
              </a:rPr>
              <a:t>25 years of hospitality, finally on your terms.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The business, in one sentence.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1051560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128016" cy="219456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063240"/>
            <a:ext cx="9692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>
                <a:solidFill>
                  <a:srgbClr val="14304A"/>
                </a:solidFill>
                <a:latin typeface="Liberation Sans"/>
              </a:rPr>
              <a:t>You help busy restaurant groups turn what lives in their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>
                <a:solidFill>
                  <a:srgbClr val="14304A"/>
                </a:solidFill>
                <a:latin typeface="Liberation Sans"/>
              </a:rPr>
              <a:t>best people's heads into clear written playbooks, so every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0">
                <a:solidFill>
                  <a:srgbClr val="14304A"/>
                </a:solidFill>
                <a:latin typeface="Liberation Sans"/>
              </a:rPr>
              <a:t>location runs the same and every new opening starts from 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>
                <a:solidFill>
                  <a:srgbClr val="14304A"/>
                </a:solidFill>
                <a:latin typeface="Liberation Sans"/>
              </a:rPr>
              <a:t>proven plan instead of a blank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406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B6B7A"/>
                </a:solidFill>
                <a:latin typeface="Liberation Sans"/>
              </a:rPr>
              <a:t>No cooking. No floor. No clock. Just your knowledge, written 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YOUR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What your day actually looks like.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32461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10896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CE3D6"/>
                </a:solidFill>
                <a:latin typeface="Liberation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65760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4304A"/>
                </a:solidFill>
                <a:latin typeface="Liberation Sans"/>
              </a:rPr>
              <a:t>Talk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51960"/>
            <a:ext cx="2606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Open Claude and talk for about ten minutes. Explain how a task really gets done, the way you would tell a new manager.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743200"/>
            <a:ext cx="32461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74320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310896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CE3D6"/>
                </a:solidFill>
                <a:latin typeface="Liberation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365760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4304A"/>
                </a:solidFill>
                <a:latin typeface="Liberation Sans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4251960"/>
            <a:ext cx="2606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Claude writes a clean draft while you talk. You read it and fix anything that is not how you really do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2743200"/>
            <a:ext cx="324612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274320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310896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CE3D6"/>
                </a:solidFill>
                <a:latin typeface="Liberation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65760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14304A"/>
                </a:solidFill>
                <a:latin typeface="Liberation Sans"/>
              </a:rPr>
              <a:t>Save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4251960"/>
            <a:ext cx="26060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When it sounds like you, save it. That is one finished, sellable document. You are done for the day if you want.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304A"/>
                </a:solidFill>
                <a:latin typeface="Liberation Sans"/>
              </a:rPr>
              <a:t>That is the whole rhythm. Talk, review, save. You stay in charge of every word.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WHY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You have already built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the thing you will sell.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3580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9718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Around 15 concepts built and operated: restaurants, bars, lounges, nightclubs, a coffee shop, a family fun center.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72160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6576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Owner, Chief Operating Officer, and Vice President of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40740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3434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You wrote the training manuals, the safety procedures, and the onboarding programs yourself.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09320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029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You took Beta Nightclub to number one in North America and doubled sales at SUTRA Lounge.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77900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7150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You ran the P&amp;Ls and mentored the general managers who ran your floors.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B7A"/>
                </a:solidFill>
                <a:latin typeface="Liberation Sans"/>
              </a:rPr>
              <a:t>This is not a new career. It is the work you have always been great 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The problem every growing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group has, and you solve.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92608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926080"/>
            <a:ext cx="109728" cy="265176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4304A"/>
                </a:solidFill>
                <a:latin typeface="Liberation Sans"/>
              </a:rPr>
              <a:t>Training drifts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A server learns one way at one spot and a different way at another. The brand feels different depending on the door you walk 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92608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926080"/>
            <a:ext cx="109728" cy="265176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4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4304A"/>
                </a:solidFill>
                <a:latin typeface="Liberation Sans"/>
              </a:rPr>
              <a:t>Knowledge walks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160520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The real playbook lives in your best people's heads. When they leave, it leaves with them.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92608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926080"/>
            <a:ext cx="109728" cy="265176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3291840"/>
            <a:ext cx="2560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4304A"/>
                </a:solidFill>
                <a:latin typeface="Liberation Sans"/>
              </a:rPr>
              <a:t>Every opening from scratch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160520"/>
            <a:ext cx="25603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A group that keeps opening rebuilds training and checklists each time, instead of pulling a proven playbook off the shelf.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304A"/>
                </a:solidFill>
                <a:latin typeface="Liberation Sans"/>
              </a:rPr>
              <a:t>Your lane is floor operations. You make the knowledge into documents anyone can 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THE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What you sell.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65176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06324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>
                <a:solidFill>
                  <a:srgbClr val="14304A"/>
                </a:solidFill>
                <a:latin typeface="Liberation Sans"/>
              </a:rPr>
              <a:t>Operations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886200"/>
            <a:ext cx="2606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Opening and closing, cash handling, cleaning, inventory, food safety, emergency procedures, manager checklists.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65176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65176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306324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>
                <a:solidFill>
                  <a:srgbClr val="14304A"/>
                </a:solidFill>
                <a:latin typeface="Liberation Sans"/>
              </a:rPr>
              <a:t>Employee and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886200"/>
            <a:ext cx="2606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Onboarding, server and bartender and host manuals, steps of service, menu knowledge, coaching.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65176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65176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3063240"/>
            <a:ext cx="26060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>
                <a:solidFill>
                  <a:srgbClr val="14304A"/>
                </a:solidFill>
                <a:latin typeface="Liberation Sans"/>
              </a:rPr>
              <a:t>Standards and scaling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886200"/>
            <a:ext cx="2606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B6B7A"/>
                </a:solidFill>
                <a:latin typeface="Liberation Sans"/>
              </a:rPr>
              <a:t>Brand standards, audits, recipe specs, and the flagship: the new location opening playbook.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304A"/>
                </a:solidFill>
                <a:latin typeface="Liberation Sans"/>
              </a:rPr>
              <a:t>Sell one document, a package, or a full system. Sell it once, or keep it current for a monthly fee.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YOUR FLAGSHIP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Liberation Sans"/>
              </a:rPr>
              <a:t>The new location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C8772E"/>
                </a:solidFill>
                <a:latin typeface="Liberation Sans"/>
              </a:rPr>
              <a:t>opening playbook.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Liberation Sans"/>
              </a:rPr>
              <a:t>Most groups rebuild every opening from a blank page. You give them one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Liberation Sans"/>
              </a:rPr>
              <a:t>proven plan they run every time. A countdown timeline, build sheets, the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Liberation Sans"/>
              </a:rPr>
              <a:t>hiring and training calendar, punch lists, and the soft opening 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solidFill>
            <a:srgbClr val="1B3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572000"/>
            <a:ext cx="128016" cy="128016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846320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Liberation Sans"/>
              </a:rPr>
              <a:t>It turns every opening from a scramble into a routine. </a:t>
            </a:r>
            <a:r>
              <a:rPr sz="1700" b="1">
                <a:solidFill>
                  <a:srgbClr val="C8772E"/>
                </a:solidFill>
                <a:latin typeface="Liberation Sans"/>
              </a:rPr>
              <a:t>Lead with this.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THE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What the money looks like.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0604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60604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315468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304A"/>
                </a:solidFill>
                <a:latin typeface="Liberation Sans"/>
              </a:rPr>
              <a:t>Per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356616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C8772E"/>
                </a:solidFill>
                <a:latin typeface="Liberation Sans"/>
              </a:rPr>
              <a:t>$150 to $750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4206240"/>
            <a:ext cx="2606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B7A"/>
                </a:solidFill>
                <a:latin typeface="Liberation Sans"/>
              </a:rPr>
              <a:t>Each finished document. Great for starting small.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606040"/>
            <a:ext cx="3246120" cy="2651760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60604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2862072"/>
            <a:ext cx="2606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772E"/>
                </a:solidFill>
                <a:latin typeface="Liberation Sans"/>
              </a:rPr>
              <a:t>RECOMMENDED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15468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Monthly retainer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56616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C8772E"/>
                </a:solidFill>
                <a:latin typeface="Liberation Sans"/>
              </a:rPr>
              <a:t>$3,000 / 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4206240"/>
            <a:ext cx="2606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3D6"/>
                </a:solidFill>
                <a:latin typeface="Liberation Sans"/>
              </a:rPr>
              <a:t>Recommended. A flat fee for the build period, then $1,000 a month to keep it current. Steady income, protected on slow weeks.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2606040"/>
            <a:ext cx="32461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2606040"/>
            <a:ext cx="324612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154680"/>
            <a:ext cx="2606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304A"/>
                </a:solidFill>
                <a:latin typeface="Liberation Sans"/>
              </a:rPr>
              <a:t>Project fee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566160"/>
            <a:ext cx="2606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C8772E"/>
                </a:solidFill>
                <a:latin typeface="Liberation Sans"/>
              </a:rPr>
              <a:t>$18k to $25k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206240"/>
            <a:ext cx="260603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B6B7A"/>
                </a:solidFill>
                <a:latin typeface="Liberation Sans"/>
              </a:rPr>
              <a:t>One fixed price for the full system, paid in milestones.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304A"/>
                </a:solidFill>
                <a:latin typeface="Liberation Sans"/>
              </a:rPr>
              <a:t>An outside firm would charge this group </a:t>
            </a:r>
            <a:r>
              <a:rPr sz="1400" b="1">
                <a:solidFill>
                  <a:srgbClr val="C8772E"/>
                </a:solidFill>
                <a:latin typeface="Liberation Sans"/>
              </a:rPr>
              <a:t>$30,000 to $75,000 or more</a:t>
            </a:r>
            <a:r>
              <a:rPr sz="1400" b="0">
                <a:solidFill>
                  <a:srgbClr val="14304A"/>
                </a:solidFill>
                <a:latin typeface="Liberation Sans"/>
              </a:rPr>
              <a:t> to build the same system. You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4304A"/>
                </a:solidFill>
                <a:latin typeface="Liberation Sans"/>
              </a:rPr>
              <a:t>already know their floors, so you are the better fit and still a bargain.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THE FIRST 30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Your first month, one step at a time.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297679"/>
            <a:ext cx="2468880" cy="1280160"/>
          </a:xfrm>
          <a:prstGeom prst="rect">
            <a:avLst/>
          </a:prstGeom>
          <a:solidFill>
            <a:srgbClr val="EC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297679"/>
            <a:ext cx="2468880" cy="9144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48055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304A"/>
                </a:solidFill>
                <a:latin typeface="Liberation Sans"/>
              </a:rPr>
              <a:t>Week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937759"/>
            <a:ext cx="2011680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4304A"/>
                </a:solidFill>
                <a:latin typeface="Liberation Sans"/>
              </a:rPr>
              <a:t>Set up Claude.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4304A"/>
                </a:solidFill>
                <a:latin typeface="Liberation Sans"/>
              </a:rPr>
              <a:t>Finish one sample document.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3749039"/>
            <a:ext cx="2468880" cy="1828800"/>
          </a:xfrm>
          <a:prstGeom prst="rect">
            <a:avLst/>
          </a:prstGeom>
          <a:solidFill>
            <a:srgbClr val="D8C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94760" y="3749039"/>
            <a:ext cx="2468880" cy="9144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393192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304A"/>
                </a:solidFill>
                <a:latin typeface="Liberation Sans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4389120"/>
            <a:ext cx="2011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4304A"/>
                </a:solidFill>
                <a:latin typeface="Liberation Sans"/>
              </a:rPr>
              <a:t>Finish two or three more.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14304A"/>
                </a:solidFill>
                <a:latin typeface="Liberation Sans"/>
              </a:rPr>
              <a:t>Shape your pitch.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200399"/>
            <a:ext cx="2468880" cy="2377440"/>
          </a:xfrm>
          <a:prstGeom prst="rect">
            <a:avLst/>
          </a:prstGeom>
          <a:solidFill>
            <a:srgbClr val="2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3200399"/>
            <a:ext cx="2468880" cy="9144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338327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Week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840479"/>
            <a:ext cx="2011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Liberation Sans"/>
              </a:rPr>
              <a:t>Have the friendly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Liberation Sans"/>
              </a:rPr>
              <a:t>conversation with the group.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55480" y="2651759"/>
            <a:ext cx="2468880" cy="2926080"/>
          </a:xfrm>
          <a:prstGeom prst="rect">
            <a:avLst/>
          </a:prstGeom>
          <a:solidFill>
            <a:srgbClr val="14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55480" y="2651759"/>
            <a:ext cx="2468880" cy="91440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2834639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291839"/>
            <a:ext cx="201168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Liberation Sans"/>
              </a:rPr>
              <a:t>Land the arrangement.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FFFFFF"/>
                </a:solidFill>
                <a:latin typeface="Liberation Sans"/>
              </a:rPr>
              <a:t>Start the opening playbook.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577840"/>
            <a:ext cx="11109960" cy="45720"/>
          </a:xfrm>
          <a:prstGeom prst="rect">
            <a:avLst/>
          </a:prstGeom>
          <a:solidFill>
            <a:srgbClr val="5B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B7A"/>
                </a:solidFill>
                <a:latin typeface="Liberation Sans"/>
              </a:rPr>
              <a:t>Progress is measured in documents finished, not hours. Rest days are built 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77240"/>
            <a:ext cx="411480" cy="10972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C8772E"/>
                </a:solidFill>
                <a:latin typeface="Liberation Sans"/>
              </a:rPr>
              <a:t>ON YOUR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126480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B6B7A"/>
                </a:solidFill>
                <a:latin typeface="Liberation San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5B6B7A"/>
                </a:solidFill>
                <a:latin typeface="Liberation Sans"/>
              </a:rPr>
              <a:t>Your Documents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Built around your life,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304A"/>
                </a:solidFill>
                <a:latin typeface="Liberation Sans"/>
              </a:rPr>
              <a:t>not the other way around.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72384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017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Work in short bursts. Twenty good minutes moves a document forward.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785615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730752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Stack the easy days. Get ahead when you feel strong, rest when you do not.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498848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443984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Rest the hard days with no guilt. The work waits. It does not expire.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212080"/>
            <a:ext cx="201168" cy="201168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15721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14304A"/>
                </a:solidFill>
                <a:latin typeface="Liberation Sans"/>
              </a:rPr>
              <a:t>On a retainer, a slow week costs you nothing. You are paid for finished work, not hours.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6B7A"/>
                </a:solidFill>
                <a:latin typeface="Liberation Sans"/>
              </a:rPr>
              <a:t>You built businesses that ran while you slept. This one runs around your health.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286000"/>
            <a:ext cx="822960" cy="146304"/>
          </a:xfrm>
          <a:prstGeom prst="rect">
            <a:avLst/>
          </a:prstGeom>
          <a:solidFill>
            <a:srgbClr val="C8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Liberation Sans"/>
              </a:rPr>
              <a:t>You already built this.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C8772E"/>
                </a:solidFill>
                <a:latin typeface="Liberation Sans"/>
              </a:rPr>
              <a:t>Now you sell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Liberation Sans"/>
              </a:rPr>
              <a:t>Your first move is simple: set up Claude, then read the Start Here playbook.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5B6B7A"/>
                </a:solidFill>
                <a:latin typeface="Liberation Sans"/>
              </a:rPr>
              <a:t>One finished document at a time, Mark. You have got this.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